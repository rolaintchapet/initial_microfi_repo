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2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07B146F-EAD4-4D74-9218-8E24C9362D7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B3F4D9-FA43-4A94-9A75-FF797907CF6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F4DE03-20A1-43E0-A6F5-9C12D84948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BA3D26-6465-41AA-A42B-99B3F4E86D8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DCF5DC-934B-4D5A-9C35-D887F53BE0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1AFCA8-9EDB-44AD-A713-966B4A0E31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A1EC48-D76E-4122-9DD8-F61E12E6F43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9309B9-3BD0-49B5-9679-0F5CA3BAD93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C76A55-C1BD-4DF1-9F5B-26462521F2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A0BE4B-B3AC-4316-B47E-290C4519D9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18A312-5061-4981-B2F5-2014D3B9E2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A3FCEC-2C0A-45E6-8572-6C229AC0629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F92D53-B1F2-4AB5-8A9A-4B2A913EBF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5DCD4A-791C-4A0D-B5B6-D5C75380D5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04DB8D-4472-4AD4-B7C2-14CEE7E396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FBE836-CF23-418F-8A49-D74AB8DC67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9692640" y="-1463040"/>
            <a:ext cx="4205880" cy="4205880"/>
          </a:xfrm>
          <a:prstGeom prst="ellipse">
            <a:avLst/>
          </a:prstGeom>
          <a:noFill/>
          <a:ln w="2556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10332720" y="-822960"/>
            <a:ext cx="2925720" cy="2925720"/>
          </a:xfrm>
          <a:prstGeom prst="ellipse">
            <a:avLst/>
          </a:prstGeom>
          <a:noFill/>
          <a:ln w="1908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31520" y="2331720"/>
            <a:ext cx="1072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c9a227"/>
                </a:solidFill>
                <a:latin typeface="Cambria"/>
                <a:ea typeface="Cambria"/>
              </a:rPr>
              <a:t>MICRO</a:t>
            </a:r>
            <a:r>
              <a:rPr b="1" lang="en-US" sz="5400" spc="-1" strike="noStrike">
                <a:solidFill>
                  <a:srgbClr val="c9a227"/>
                </a:solidFill>
                <a:latin typeface="Cambria"/>
                <a:ea typeface="Cambria"/>
              </a:rPr>
              <a:t>FI </a:t>
            </a:r>
            <a:r>
              <a:rPr b="1" lang="en-US" sz="5400" spc="-1" strike="noStrike">
                <a:solidFill>
                  <a:srgbClr val="c9a227"/>
                </a:solidFill>
                <a:latin typeface="Cambria"/>
                <a:ea typeface="Cambria"/>
              </a:rPr>
              <a:t>COLLE</a:t>
            </a:r>
            <a:r>
              <a:rPr b="1" lang="en-US" sz="5400" spc="-1" strike="noStrike">
                <a:solidFill>
                  <a:srgbClr val="c9a227"/>
                </a:solidFill>
                <a:latin typeface="Cambria"/>
                <a:ea typeface="Cambria"/>
              </a:rPr>
              <a:t>CT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1188720" y="3291840"/>
            <a:ext cx="9813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Digital Platform for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Itinerant Collection &amp;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Management of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Microfinance Institutions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88720" y="3977640"/>
            <a:ext cx="981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9ca0a6"/>
                </a:solidFill>
                <a:latin typeface="Calibri"/>
                <a:ea typeface="Calibri"/>
              </a:rPr>
              <a:t>Supervised by the PK Fokam Research </a:t>
            </a:r>
            <a:r>
              <a:rPr b="0" i="1" lang="en-US" sz="1400" spc="-1" strike="noStrike">
                <a:solidFill>
                  <a:srgbClr val="9ca0a6"/>
                </a:solidFill>
                <a:latin typeface="Calibri"/>
                <a:ea typeface="Calibri"/>
              </a:rPr>
              <a:t>Center  ·  ENSPY 4GI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188720" y="6080760"/>
            <a:ext cx="981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97" strike="noStrike">
                <a:solidFill>
                  <a:srgbClr val="9ca0a6"/>
                </a:solidFill>
                <a:latin typeface="Calibri"/>
                <a:ea typeface="Calibri"/>
              </a:rPr>
              <a:t>CEMAC Zone  —  Cameroon · </a:t>
            </a:r>
            <a:r>
              <a:rPr b="0" lang="en-US" sz="1200" spc="97" strike="noStrike">
                <a:solidFill>
                  <a:srgbClr val="9ca0a6"/>
                </a:solidFill>
                <a:latin typeface="Calibri"/>
                <a:ea typeface="Calibri"/>
              </a:rPr>
              <a:t>Chad · Central African Republic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AGENDA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What You Will </a:t>
            </a: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Take Away Today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50292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3"/>
          <p:cNvSpPr/>
          <p:nvPr/>
        </p:nvSpPr>
        <p:spPr>
          <a:xfrm>
            <a:off x="50292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1069920" y="12528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Traditional Field Process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069920" y="16002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How agents work today, paper booklet by paper booklet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56" name="Shape 6"/>
          <p:cNvSpPr/>
          <p:nvPr/>
        </p:nvSpPr>
        <p:spPr>
          <a:xfrm>
            <a:off x="502920" y="23684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7"/>
          <p:cNvSpPr/>
          <p:nvPr/>
        </p:nvSpPr>
        <p:spPr>
          <a:xfrm>
            <a:off x="502920" y="2359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1069920" y="22770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Why Change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1069920" y="26244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Fiv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sy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st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mi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c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fai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lur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es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of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th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AS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-IS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pr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oc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es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502920" y="33922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1"/>
          <p:cNvSpPr/>
          <p:nvPr/>
        </p:nvSpPr>
        <p:spPr>
          <a:xfrm>
            <a:off x="502920" y="338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1069920" y="33008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E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xi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st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i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n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g 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S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ol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u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ti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o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n</a:t>
            </a: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1069920" y="36486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A scored benchmark of POS, fintech apps and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USSD/Mobile Money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502920" y="44164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5"/>
          <p:cNvSpPr/>
          <p:nvPr/>
        </p:nvSpPr>
        <p:spPr>
          <a:xfrm>
            <a:off x="502920" y="4407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1069920" y="43250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Market Deployments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1069920" y="467244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Named digital solutions already in the field, and their limits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8" name="Shape 18"/>
          <p:cNvSpPr/>
          <p:nvPr/>
        </p:nvSpPr>
        <p:spPr>
          <a:xfrm>
            <a:off x="502920" y="54406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9"/>
          <p:cNvSpPr/>
          <p:nvPr/>
        </p:nvSpPr>
        <p:spPr>
          <a:xfrm>
            <a:off x="502920" y="543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1069920" y="53492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Our Positioning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1069920" y="569664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Why MICROFI is a third-generation hybrid, not another </a:t>
            </a: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app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626364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3"/>
          <p:cNvSpPr/>
          <p:nvPr/>
        </p:nvSpPr>
        <p:spPr>
          <a:xfrm>
            <a:off x="626364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6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6830640" y="12528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Target Vision (TO-BE)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830640" y="16002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One digitized collection day, from login to reconciliation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76" name="Shape 26"/>
          <p:cNvSpPr/>
          <p:nvPr/>
        </p:nvSpPr>
        <p:spPr>
          <a:xfrm>
            <a:off x="6263640" y="23684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7"/>
          <p:cNvSpPr/>
          <p:nvPr/>
        </p:nvSpPr>
        <p:spPr>
          <a:xfrm>
            <a:off x="6263640" y="2359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7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28"/>
          <p:cNvSpPr/>
          <p:nvPr/>
        </p:nvSpPr>
        <p:spPr>
          <a:xfrm>
            <a:off x="6830640" y="22770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Functional Requirements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6830640" y="26244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22 requirements organized across 6 modules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80" name="Shape 30"/>
          <p:cNvSpPr/>
          <p:nvPr/>
        </p:nvSpPr>
        <p:spPr>
          <a:xfrm>
            <a:off x="6263640" y="33922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31"/>
          <p:cNvSpPr/>
          <p:nvPr/>
        </p:nvSpPr>
        <p:spPr>
          <a:xfrm>
            <a:off x="6263640" y="3383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8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32"/>
          <p:cNvSpPr/>
          <p:nvPr/>
        </p:nvSpPr>
        <p:spPr>
          <a:xfrm>
            <a:off x="6830640" y="33008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MVP Selection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3" name="Text 33"/>
          <p:cNvSpPr/>
          <p:nvPr/>
        </p:nvSpPr>
        <p:spPr>
          <a:xfrm>
            <a:off x="6830640" y="364860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An objective scoring model and five flagship capabilities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84" name="Shape 34"/>
          <p:cNvSpPr/>
          <p:nvPr/>
        </p:nvSpPr>
        <p:spPr>
          <a:xfrm>
            <a:off x="6263640" y="44164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35"/>
          <p:cNvSpPr/>
          <p:nvPr/>
        </p:nvSpPr>
        <p:spPr>
          <a:xfrm>
            <a:off x="6263640" y="4407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9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6"/>
          <p:cNvSpPr/>
          <p:nvPr/>
        </p:nvSpPr>
        <p:spPr>
          <a:xfrm>
            <a:off x="6830640" y="43250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Architecture &amp; Stack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7" name="Text 37"/>
          <p:cNvSpPr/>
          <p:nvPr/>
        </p:nvSpPr>
        <p:spPr>
          <a:xfrm>
            <a:off x="6830640" y="467244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How the system is built, end to end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88" name="Shape 38"/>
          <p:cNvSpPr/>
          <p:nvPr/>
        </p:nvSpPr>
        <p:spPr>
          <a:xfrm>
            <a:off x="6263640" y="544068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9"/>
          <p:cNvSpPr/>
          <p:nvPr/>
        </p:nvSpPr>
        <p:spPr>
          <a:xfrm>
            <a:off x="6087600" y="5431680"/>
            <a:ext cx="703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10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0" name="Text 40"/>
          <p:cNvSpPr/>
          <p:nvPr/>
        </p:nvSpPr>
        <p:spPr>
          <a:xfrm>
            <a:off x="6830640" y="534924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Conclusion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1" name="Text 41"/>
          <p:cNvSpPr/>
          <p:nvPr/>
        </p:nvSpPr>
        <p:spPr>
          <a:xfrm>
            <a:off x="6830640" y="5696640"/>
            <a:ext cx="4434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From paper-based risk to controlled, auditable collection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92" name="Text 42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3" name="Text 43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01 · THE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Today's Reality — The Traditional Field Collection Process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1615320" y="1874520"/>
            <a:ext cx="2285640" cy="27885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4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3"/>
          <p:cNvSpPr/>
          <p:nvPr/>
        </p:nvSpPr>
        <p:spPr>
          <a:xfrm rot="5400000">
            <a:off x="3444480" y="1874520"/>
            <a:ext cx="456840" cy="456840"/>
          </a:xfrm>
          <a:prstGeom prst="triangle">
            <a:avLst>
              <a:gd name="adj" fmla="val 50000"/>
            </a:avLst>
          </a:prstGeom>
          <a:solidFill>
            <a:srgbClr val="e6e3da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8" name="Image 0" descr="/home/claude/microfi/icons/trad_morning.png"/>
          <p:cNvPicPr/>
          <p:nvPr/>
        </p:nvPicPr>
        <p:blipFill>
          <a:blip r:embed="rId1"/>
          <a:stretch/>
        </p:blipFill>
        <p:spPr>
          <a:xfrm>
            <a:off x="2301120" y="237744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99" name="Shape 4"/>
          <p:cNvSpPr/>
          <p:nvPr/>
        </p:nvSpPr>
        <p:spPr>
          <a:xfrm>
            <a:off x="3974400" y="3268800"/>
            <a:ext cx="6307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5"/>
          <p:cNvSpPr/>
          <p:nvPr/>
        </p:nvSpPr>
        <p:spPr>
          <a:xfrm>
            <a:off x="256644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6"/>
          <p:cNvSpPr/>
          <p:nvPr/>
        </p:nvSpPr>
        <p:spPr>
          <a:xfrm>
            <a:off x="256644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1341000" y="48279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Morning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1158120" y="5166360"/>
            <a:ext cx="3200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The agent reports to the branch to collect a paper receipt booklet and manual route instructions.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4952880" y="1874520"/>
            <a:ext cx="2285640" cy="27885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4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10"/>
          <p:cNvSpPr/>
          <p:nvPr/>
        </p:nvSpPr>
        <p:spPr>
          <a:xfrm rot="5400000">
            <a:off x="6782040" y="1874520"/>
            <a:ext cx="456840" cy="456840"/>
          </a:xfrm>
          <a:prstGeom prst="triangle">
            <a:avLst>
              <a:gd name="adj" fmla="val 50000"/>
            </a:avLst>
          </a:prstGeom>
          <a:solidFill>
            <a:srgbClr val="e6e3da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6" name="Image 1" descr="/home/claude/microfi/icons/trad_field.png"/>
          <p:cNvPicPr/>
          <p:nvPr/>
        </p:nvPicPr>
        <p:blipFill>
          <a:blip r:embed="rId2"/>
          <a:stretch/>
        </p:blipFill>
        <p:spPr>
          <a:xfrm>
            <a:off x="5638680" y="237744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07" name="Shape 11"/>
          <p:cNvSpPr/>
          <p:nvPr/>
        </p:nvSpPr>
        <p:spPr>
          <a:xfrm>
            <a:off x="7311960" y="3268800"/>
            <a:ext cx="6307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12"/>
          <p:cNvSpPr/>
          <p:nvPr/>
        </p:nvSpPr>
        <p:spPr>
          <a:xfrm>
            <a:off x="590400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3"/>
          <p:cNvSpPr/>
          <p:nvPr/>
        </p:nvSpPr>
        <p:spPr>
          <a:xfrm>
            <a:off x="590400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4678560" y="48279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Field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4495680" y="5166360"/>
            <a:ext cx="3200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Cash is collected stall by stall; the agent writes a carbon-copy receipt and stamps the client's passbook.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8290440" y="1874520"/>
            <a:ext cx="2285640" cy="27885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4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Shape 17"/>
          <p:cNvSpPr/>
          <p:nvPr/>
        </p:nvSpPr>
        <p:spPr>
          <a:xfrm rot="5400000">
            <a:off x="10119600" y="1874520"/>
            <a:ext cx="456840" cy="456840"/>
          </a:xfrm>
          <a:prstGeom prst="triangle">
            <a:avLst>
              <a:gd name="adj" fmla="val 50000"/>
            </a:avLst>
          </a:prstGeom>
          <a:solidFill>
            <a:srgbClr val="e6e3da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Image 2" descr="/home/claude/microfi/icons/trad_evening.png"/>
          <p:cNvPicPr/>
          <p:nvPr/>
        </p:nvPicPr>
        <p:blipFill>
          <a:blip r:embed="rId3"/>
          <a:stretch/>
        </p:blipFill>
        <p:spPr>
          <a:xfrm>
            <a:off x="8976240" y="237744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15" name="Shape 18"/>
          <p:cNvSpPr/>
          <p:nvPr/>
        </p:nvSpPr>
        <p:spPr>
          <a:xfrm>
            <a:off x="924156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9"/>
          <p:cNvSpPr/>
          <p:nvPr/>
        </p:nvSpPr>
        <p:spPr>
          <a:xfrm>
            <a:off x="924156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8016120" y="48279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Evening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 21"/>
          <p:cNvSpPr/>
          <p:nvPr/>
        </p:nvSpPr>
        <p:spPr>
          <a:xfrm>
            <a:off x="7833240" y="5166360"/>
            <a:ext cx="32000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The agent returns with cash bags. The cashier manually counts and cross-checks every passbook.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731520" y="5806440"/>
            <a:ext cx="1072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50" spc="-1" strike="noStrike">
                <a:solidFill>
                  <a:srgbClr val="ff0000"/>
                </a:solidFill>
                <a:latin typeface="Calibri"/>
                <a:ea typeface="Calibri"/>
              </a:rPr>
              <a:t>Outcome: delays, disputes over counterfeit notes, unexplained variances — and accounting entries deferred to the next day.</a:t>
            </a:r>
            <a:endParaRPr b="1" lang="en-US" sz="115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01 · THE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Why Change? Five Systemic Failures of the AS-IS Process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63320" y="1691640"/>
            <a:ext cx="2121120" cy="288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27" name="Image 0" descr="/home/claude/microfi/icons/pain_opacity.png"/>
          <p:cNvPicPr/>
          <p:nvPr/>
        </p:nvPicPr>
        <p:blipFill>
          <a:blip r:embed="rId1"/>
          <a:stretch/>
        </p:blipFill>
        <p:spPr>
          <a:xfrm>
            <a:off x="1112400" y="19476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28" name="Text 3"/>
          <p:cNvSpPr/>
          <p:nvPr/>
        </p:nvSpPr>
        <p:spPr>
          <a:xfrm>
            <a:off x="627840" y="288036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252b"/>
                </a:solidFill>
                <a:latin typeface="Cambria"/>
                <a:ea typeface="Cambria"/>
              </a:rPr>
              <a:t>Opacity &amp; “Cavalerie” Risk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627840" y="3502080"/>
            <a:ext cx="179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Funds from one client cover another's shortfall before any digital trace exists.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2749320" y="1691640"/>
            <a:ext cx="2121120" cy="288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31" name="Image 1" descr="/home/claude/microfi/icons/pain_clock.png"/>
          <p:cNvPicPr/>
          <p:nvPr/>
        </p:nvPicPr>
        <p:blipFill>
          <a:blip r:embed="rId2"/>
          <a:stretch/>
        </p:blipFill>
        <p:spPr>
          <a:xfrm>
            <a:off x="3398400" y="19476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32" name="Text 6"/>
          <p:cNvSpPr/>
          <p:nvPr/>
        </p:nvSpPr>
        <p:spPr>
          <a:xfrm>
            <a:off x="2913840" y="288036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252b"/>
                </a:solidFill>
                <a:latin typeface="Cambria"/>
                <a:ea typeface="Cambria"/>
              </a:rPr>
              <a:t>Slow Evening Reconciliation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2913840" y="3502080"/>
            <a:ext cx="179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Manual cash counting creates 1.5 to 2.5 hours of daily branch congestion.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5035320" y="1691640"/>
            <a:ext cx="2121120" cy="288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35" name="Image 2" descr="/home/claude/microfi/icons/pain_money.png"/>
          <p:cNvPicPr/>
          <p:nvPr/>
        </p:nvPicPr>
        <p:blipFill>
          <a:blip r:embed="rId3"/>
          <a:stretch/>
        </p:blipFill>
        <p:spPr>
          <a:xfrm>
            <a:off x="5684400" y="19476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36" name="Text 9"/>
          <p:cNvSpPr/>
          <p:nvPr/>
        </p:nvSpPr>
        <p:spPr>
          <a:xfrm>
            <a:off x="5199840" y="288036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252b"/>
                </a:solidFill>
                <a:latin typeface="Cambria"/>
                <a:ea typeface="Cambria"/>
              </a:rPr>
              <a:t>Counterfeit Note Disputes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199840" y="3502080"/>
            <a:ext cx="179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A fake note found at closing cannot be traced back to the client who gave it.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7321320" y="1691640"/>
            <a:ext cx="2121120" cy="288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39" name="Image 3" descr="/home/claude/microfi/icons/pain_gps.png"/>
          <p:cNvPicPr/>
          <p:nvPr/>
        </p:nvPicPr>
        <p:blipFill>
          <a:blip r:embed="rId4"/>
          <a:stretch/>
        </p:blipFill>
        <p:spPr>
          <a:xfrm>
            <a:off x="7970400" y="19476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40" name="Text 12"/>
          <p:cNvSpPr/>
          <p:nvPr/>
        </p:nvSpPr>
        <p:spPr>
          <a:xfrm>
            <a:off x="7485840" y="288036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252b"/>
                </a:solidFill>
                <a:latin typeface="Cambria"/>
                <a:ea typeface="Cambria"/>
              </a:rPr>
              <a:t>No GPS Visibility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7485840" y="3502080"/>
            <a:ext cx="179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Agents can collect beyond their financial guarantee with no automated control.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9607320" y="1691640"/>
            <a:ext cx="2121120" cy="28800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43" name="Image 4" descr="/home/claude/microfi/icons/pain_sync.png"/>
          <p:cNvPicPr/>
          <p:nvPr/>
        </p:nvPicPr>
        <p:blipFill>
          <a:blip r:embed="rId5"/>
          <a:stretch/>
        </p:blipFill>
        <p:spPr>
          <a:xfrm>
            <a:off x="10256400" y="19476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144" name="Text 15"/>
          <p:cNvSpPr/>
          <p:nvPr/>
        </p:nvSpPr>
        <p:spPr>
          <a:xfrm>
            <a:off x="9771840" y="288036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252b"/>
                </a:solidFill>
                <a:latin typeface="Cambria"/>
                <a:ea typeface="Cambria"/>
              </a:rPr>
              <a:t>Information Asymmetry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9771840" y="3502080"/>
            <a:ext cx="1791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Core Banking balances stay stale for the entire duration of the collection day.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01 · THE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Existing Solutions Fall Short — A Scored Benchmark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502920" y="1554480"/>
            <a:ext cx="7863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3"/>
          <p:cNvSpPr/>
          <p:nvPr/>
        </p:nvSpPr>
        <p:spPr>
          <a:xfrm>
            <a:off x="758880" y="1874520"/>
            <a:ext cx="219240" cy="219240"/>
          </a:xfrm>
          <a:prstGeom prst="ellipse">
            <a:avLst/>
          </a:prstGeom>
          <a:solidFill>
            <a:srgbClr val="c62828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4"/>
          <p:cNvSpPr/>
          <p:nvPr/>
        </p:nvSpPr>
        <p:spPr>
          <a:xfrm>
            <a:off x="1097280" y="16459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Dedicated POS Terminals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1097280" y="19933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d4148"/>
                </a:solidFill>
                <a:latin typeface="Calibri"/>
                <a:ea typeface="Calibri"/>
              </a:rPr>
              <a:t>Structurally unfit — cash still travels with the agent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6537960" y="1554480"/>
            <a:ext cx="1599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2252b"/>
                </a:solidFill>
                <a:latin typeface="Cambria"/>
                <a:ea typeface="Cambria"/>
              </a:rPr>
              <a:t>2.10 / 5.00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502920" y="2523600"/>
            <a:ext cx="7863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Shape 8"/>
          <p:cNvSpPr/>
          <p:nvPr/>
        </p:nvSpPr>
        <p:spPr>
          <a:xfrm>
            <a:off x="758880" y="2843640"/>
            <a:ext cx="219240" cy="219240"/>
          </a:xfrm>
          <a:prstGeom prst="ellipse">
            <a:avLst/>
          </a:prstGeom>
          <a:solidFill>
            <a:srgbClr val="c62828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9"/>
          <p:cNvSpPr/>
          <p:nvPr/>
        </p:nvSpPr>
        <p:spPr>
          <a:xfrm>
            <a:off x="1097280" y="26150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Local Fintech Apps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1097280" y="296280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d4148"/>
                </a:solidFill>
                <a:latin typeface="Calibri"/>
                <a:ea typeface="Calibri"/>
              </a:rPr>
              <a:t>Intermittent Connectivity issues with an offline mode not 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6537960" y="2523600"/>
            <a:ext cx="1599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2252b"/>
                </a:solidFill>
                <a:latin typeface="Cambria"/>
                <a:ea typeface="Cambria"/>
              </a:rPr>
              <a:t>2.65 / 5.00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0" name="Shape 12"/>
          <p:cNvSpPr/>
          <p:nvPr/>
        </p:nvSpPr>
        <p:spPr>
          <a:xfrm>
            <a:off x="502920" y="3493080"/>
            <a:ext cx="7863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13"/>
          <p:cNvSpPr/>
          <p:nvPr/>
        </p:nvSpPr>
        <p:spPr>
          <a:xfrm>
            <a:off x="758880" y="3813120"/>
            <a:ext cx="219240" cy="21924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4"/>
          <p:cNvSpPr/>
          <p:nvPr/>
        </p:nvSpPr>
        <p:spPr>
          <a:xfrm>
            <a:off x="1097280" y="358452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USSD / Mobile Money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1097280" y="393192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d4148"/>
                </a:solidFill>
                <a:latin typeface="Calibri"/>
                <a:ea typeface="Calibri"/>
              </a:rPr>
              <a:t>Best raw score, but low real adoption (“USSD paradox”)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6537960" y="3493080"/>
            <a:ext cx="1599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2252b"/>
                </a:solidFill>
                <a:latin typeface="Cambria"/>
                <a:ea typeface="Cambria"/>
              </a:rPr>
              <a:t>4.35 / 5.00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Shape 17"/>
          <p:cNvSpPr/>
          <p:nvPr/>
        </p:nvSpPr>
        <p:spPr>
          <a:xfrm>
            <a:off x="502920" y="4462200"/>
            <a:ext cx="7863480" cy="840960"/>
          </a:xfrm>
          <a:prstGeom prst="roundRect">
            <a:avLst>
              <a:gd name="adj" fmla="val 6522"/>
            </a:avLst>
          </a:prstGeom>
          <a:solidFill>
            <a:srgbClr val="22252b"/>
          </a:solidFill>
          <a:ln w="12600">
            <a:solidFill>
              <a:srgbClr val="22252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8"/>
          <p:cNvSpPr/>
          <p:nvPr/>
        </p:nvSpPr>
        <p:spPr>
          <a:xfrm>
            <a:off x="758880" y="4782240"/>
            <a:ext cx="219240" cy="219240"/>
          </a:xfrm>
          <a:prstGeom prst="ellipse">
            <a:avLst/>
          </a:prstGeom>
          <a:solidFill>
            <a:srgbClr val="2e7d32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9"/>
          <p:cNvSpPr/>
          <p:nvPr/>
        </p:nvSpPr>
        <p:spPr>
          <a:xfrm>
            <a:off x="1097280" y="45536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MICROFI Collect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1097280" y="490104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c9cdd3"/>
                </a:solidFill>
                <a:latin typeface="Calibri"/>
                <a:ea typeface="Calibri"/>
              </a:rPr>
              <a:t>Target fit — human agent + digital control, on every criterion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6537960" y="4462200"/>
            <a:ext cx="15998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c9a227"/>
                </a:solidFill>
                <a:latin typeface="Cambria"/>
                <a:ea typeface="Cambria"/>
              </a:rPr>
              <a:t>4.50 / 5.00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8686800" y="1554480"/>
            <a:ext cx="3001680" cy="3748680"/>
          </a:xfrm>
          <a:prstGeom prst="roundRect">
            <a:avLst>
              <a:gd name="adj" fmla="val 2437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3"/>
          <p:cNvSpPr/>
          <p:nvPr/>
        </p:nvSpPr>
        <p:spPr>
          <a:xfrm>
            <a:off x="8915400" y="1737360"/>
            <a:ext cx="254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9a227"/>
                </a:solidFill>
                <a:latin typeface="Cambria"/>
                <a:ea typeface="Cambria"/>
              </a:rPr>
              <a:t>Weighting logic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8915400" y="2121480"/>
            <a:ext cx="2544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Cash-in-transit risk, CBS integration and offline resilience carry 60% of the weight — they map directly to the AS-IS failures. Regulatory traceability is a compliance floor; cost is secondary.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8915400" y="3429000"/>
            <a:ext cx="2544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4000"/>
                </a:solidFill>
                <a:latin typeface="Cambria"/>
                <a:ea typeface="Cambria"/>
              </a:rPr>
              <a:t>The USSD paradox</a:t>
            </a:r>
            <a:endParaRPr b="0" lang="en-US" sz="1300" spc="-1" strike="noStrike">
              <a:solidFill>
                <a:srgbClr val="ff4000"/>
              </a:solidFill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8915400" y="3748680"/>
            <a:ext cx="2544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050" spc="-1" strike="noStrike">
                <a:solidFill>
                  <a:srgbClr val="ffff00"/>
                </a:solidFill>
                <a:latin typeface="Calibri"/>
                <a:ea typeface="Calibri"/>
              </a:rPr>
              <a:t>USSD scores highest on paper, yet it changes habits of clients. Clients have more trust in giving cash to known collectors and filling booklets than a digital proces</a:t>
            </a:r>
            <a:endParaRPr b="1" i="1" lang="en-US" sz="1050" spc="-1" strike="noStrike">
              <a:solidFill>
                <a:srgbClr val="ffff00"/>
              </a:solidFill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6" name="Text 28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01 · THE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Digital Solutions Already in the Field — And Their Limits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502920" y="1508760"/>
            <a:ext cx="11185560" cy="758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3"/>
          <p:cNvSpPr/>
          <p:nvPr/>
        </p:nvSpPr>
        <p:spPr>
          <a:xfrm>
            <a:off x="758880" y="1787760"/>
            <a:ext cx="200880" cy="20088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"/>
          <p:cNvSpPr/>
          <p:nvPr/>
        </p:nvSpPr>
        <p:spPr>
          <a:xfrm>
            <a:off x="1097280" y="1508760"/>
            <a:ext cx="3062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mbria"/>
                <a:ea typeface="Cambria"/>
              </a:rPr>
              <a:t>Blucash / Collect Manager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4206240" y="1508760"/>
            <a:ext cx="3017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Category 1 &amp; 2 MFIs, Cameroon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7613280" y="1508760"/>
            <a:ext cx="389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2e323c"/>
                </a:solidFill>
                <a:latin typeface="Calibri"/>
                <a:ea typeface="Calibri"/>
              </a:rPr>
              <a:t>GPS captured only at onboarding — cash still travels to the branch at day's end.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502920" y="2359080"/>
            <a:ext cx="11185560" cy="758520"/>
          </a:xfrm>
          <a:prstGeom prst="roundRect">
            <a:avLst>
              <a:gd name="adj" fmla="val 6024"/>
            </a:avLst>
          </a:prstGeom>
          <a:solidFill>
            <a:srgbClr val="efede6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8"/>
          <p:cNvSpPr/>
          <p:nvPr/>
        </p:nvSpPr>
        <p:spPr>
          <a:xfrm>
            <a:off x="758880" y="2638080"/>
            <a:ext cx="200880" cy="20088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9"/>
          <p:cNvSpPr/>
          <p:nvPr/>
        </p:nvSpPr>
        <p:spPr>
          <a:xfrm>
            <a:off x="1097280" y="2359080"/>
            <a:ext cx="3062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mbria"/>
                <a:ea typeface="Cambria"/>
              </a:rPr>
              <a:t>Smobilpay for Daily Savings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4206240" y="2359080"/>
            <a:ext cx="3017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CamCCUL (Cameroon Coop. Credit Union League)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7613280" y="2359080"/>
            <a:ext cx="389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2e323c"/>
                </a:solidFill>
                <a:latin typeface="Calibri"/>
                <a:ea typeface="Calibri"/>
              </a:rPr>
              <a:t>No offline-first mode; no public escrow or ceiling lockout.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502920" y="3209400"/>
            <a:ext cx="11185560" cy="758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13"/>
          <p:cNvSpPr/>
          <p:nvPr/>
        </p:nvSpPr>
        <p:spPr>
          <a:xfrm>
            <a:off x="758880" y="3488400"/>
            <a:ext cx="200880" cy="20088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4"/>
          <p:cNvSpPr/>
          <p:nvPr/>
        </p:nvSpPr>
        <p:spPr>
          <a:xfrm>
            <a:off x="1097280" y="3209400"/>
            <a:ext cx="3062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mbria"/>
                <a:ea typeface="Cambria"/>
              </a:rPr>
              <a:t>Collecta / LP Collect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4206240" y="3209400"/>
            <a:ext cx="3017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Le Pèlerin S.A. — Douala, Yaoundé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7613280" y="3209400"/>
            <a:ext cx="389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2e323c"/>
                </a:solidFill>
                <a:latin typeface="Calibri"/>
                <a:ea typeface="Calibri"/>
              </a:rPr>
              <a:t>Vulnerable to network saturation on large, congested markets.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502920" y="4060080"/>
            <a:ext cx="11185560" cy="758520"/>
          </a:xfrm>
          <a:prstGeom prst="roundRect">
            <a:avLst>
              <a:gd name="adj" fmla="val 6024"/>
            </a:avLst>
          </a:prstGeom>
          <a:solidFill>
            <a:srgbClr val="efede6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18"/>
          <p:cNvSpPr/>
          <p:nvPr/>
        </p:nvSpPr>
        <p:spPr>
          <a:xfrm>
            <a:off x="758880" y="4338720"/>
            <a:ext cx="200880" cy="20088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9"/>
          <p:cNvSpPr/>
          <p:nvPr/>
        </p:nvSpPr>
        <p:spPr>
          <a:xfrm>
            <a:off x="1097280" y="4060080"/>
            <a:ext cx="3062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mbria"/>
                <a:ea typeface="Cambria"/>
              </a:rPr>
              <a:t>Gamme ALPHA (I-TECH SARL)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4206240" y="4060080"/>
            <a:ext cx="3017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CEPAC–Solidarité, Grand Ouest / Centre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7613280" y="4060080"/>
            <a:ext cx="389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2e323c"/>
                </a:solidFill>
                <a:latin typeface="Calibri"/>
                <a:ea typeface="Calibri"/>
              </a:rPr>
              <a:t>Heavy deployment footprint; limited agility for rapid field innovation.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502920" y="4910400"/>
            <a:ext cx="11185560" cy="758520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23"/>
          <p:cNvSpPr/>
          <p:nvPr/>
        </p:nvSpPr>
        <p:spPr>
          <a:xfrm>
            <a:off x="758880" y="5189400"/>
            <a:ext cx="200880" cy="20088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24"/>
          <p:cNvSpPr/>
          <p:nvPr/>
        </p:nvSpPr>
        <p:spPr>
          <a:xfrm>
            <a:off x="1097280" y="4910400"/>
            <a:ext cx="30628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mbria"/>
                <a:ea typeface="Cambria"/>
              </a:rPr>
              <a:t>SMS Channels &amp; Dedicated POS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4206240" y="4910400"/>
            <a:ext cx="3017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b6f76"/>
                </a:solidFill>
                <a:latin typeface="Calibri"/>
                <a:ea typeface="Calibri"/>
              </a:rPr>
              <a:t>Rural CAR, Congo, Grand Nord Cameroon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7613280" y="4910400"/>
            <a:ext cx="389232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2e323c"/>
                </a:solidFill>
                <a:latin typeface="Calibri"/>
                <a:ea typeface="Calibri"/>
              </a:rPr>
              <a:t>Battery / paper-roll logistics failures; high total cost of ownership.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731520" y="5943600"/>
            <a:ext cx="1072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b6f76"/>
                </a:solidFill>
                <a:latin typeface="Calibri"/>
                <a:ea typeface="Calibri"/>
              </a:rPr>
              <a:t>Each solution digitizes a piece of the process — </a:t>
            </a:r>
            <a:r>
              <a:rPr b="1" i="1" lang="en-US" sz="1150" spc="-1" strike="noStrike">
                <a:solidFill>
                  <a:srgbClr val="2e323c"/>
                </a:solidFill>
                <a:latin typeface="Calibri"/>
                <a:ea typeface="Calibri"/>
              </a:rPr>
              <a:t>none combines offline resilience, continuous GPS, escrow control and open CBS integration in one platform.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6" name="Text 29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7" name="LimitBadge"/>
          <p:cNvSpPr/>
          <p:nvPr/>
        </p:nvSpPr>
        <p:spPr>
          <a:xfrm>
            <a:off x="7315200" y="1785240"/>
            <a:ext cx="205560" cy="205560"/>
          </a:xfrm>
          <a:prstGeom prst="ellipse">
            <a:avLst/>
          </a:prstGeom>
          <a:solidFill>
            <a:srgbClr val="b0451f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08" name="LimitBadge"/>
          <p:cNvSpPr/>
          <p:nvPr/>
        </p:nvSpPr>
        <p:spPr>
          <a:xfrm>
            <a:off x="7315200" y="2635920"/>
            <a:ext cx="205560" cy="205560"/>
          </a:xfrm>
          <a:prstGeom prst="ellipse">
            <a:avLst/>
          </a:prstGeom>
          <a:solidFill>
            <a:srgbClr val="b0451f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09" name="LimitBadge"/>
          <p:cNvSpPr/>
          <p:nvPr/>
        </p:nvSpPr>
        <p:spPr>
          <a:xfrm>
            <a:off x="7315200" y="3486240"/>
            <a:ext cx="205560" cy="205560"/>
          </a:xfrm>
          <a:prstGeom prst="ellipse">
            <a:avLst/>
          </a:prstGeom>
          <a:solidFill>
            <a:srgbClr val="b0451f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10" name="LimitBadge"/>
          <p:cNvSpPr/>
          <p:nvPr/>
        </p:nvSpPr>
        <p:spPr>
          <a:xfrm>
            <a:off x="7315200" y="4336560"/>
            <a:ext cx="205560" cy="205560"/>
          </a:xfrm>
          <a:prstGeom prst="ellipse">
            <a:avLst/>
          </a:prstGeom>
          <a:solidFill>
            <a:srgbClr val="b0451f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11" name="LimitBadge"/>
          <p:cNvSpPr/>
          <p:nvPr/>
        </p:nvSpPr>
        <p:spPr>
          <a:xfrm>
            <a:off x="7315200" y="5186880"/>
            <a:ext cx="205560" cy="205560"/>
          </a:xfrm>
          <a:prstGeom prst="ellipse">
            <a:avLst/>
          </a:prstGeom>
          <a:solidFill>
            <a:srgbClr val="b0451f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12" name="ColHeader"/>
          <p:cNvSpPr/>
          <p:nvPr/>
        </p:nvSpPr>
        <p:spPr>
          <a:xfrm>
            <a:off x="1097280" y="1247040"/>
            <a:ext cx="3062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9ca0a6"/>
                </a:solidFill>
                <a:latin typeface="Calibri"/>
              </a:rPr>
              <a:t>SOLUTION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3" name="ColHeader"/>
          <p:cNvSpPr/>
          <p:nvPr/>
        </p:nvSpPr>
        <p:spPr>
          <a:xfrm>
            <a:off x="4206240" y="1247040"/>
            <a:ext cx="30171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9ca0a6"/>
                </a:solidFill>
                <a:latin typeface="Calibri"/>
              </a:rPr>
              <a:t>DEPLOYED WITH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4" name="ColHeader"/>
          <p:cNvSpPr/>
          <p:nvPr/>
        </p:nvSpPr>
        <p:spPr>
          <a:xfrm>
            <a:off x="7315200" y="1247040"/>
            <a:ext cx="41904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117" strike="noStrike">
                <a:solidFill>
                  <a:srgbClr val="b0451f"/>
                </a:solidFill>
                <a:latin typeface="Calibri"/>
              </a:rPr>
              <a:t>KEY LIMITATION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02 · OUR ANSWER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MICROFI's Positioning 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02920" y="11703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6f76"/>
                </a:solidFill>
                <a:latin typeface="Calibri"/>
                <a:ea typeface="Calibri"/>
              </a:rPr>
              <a:t>Not a choice between the human touch and digital efficiency — it merges both.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655200" y="1920240"/>
            <a:ext cx="3382920" cy="3565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19" name="Image 0" descr="/home/claude/microfi/icons/pillar_escrow.png"/>
          <p:cNvPicPr/>
          <p:nvPr/>
        </p:nvPicPr>
        <p:blipFill>
          <a:blip r:embed="rId1"/>
          <a:stretch/>
        </p:blipFill>
        <p:spPr>
          <a:xfrm>
            <a:off x="1889640" y="22402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220" name="Shape 4"/>
          <p:cNvSpPr/>
          <p:nvPr/>
        </p:nvSpPr>
        <p:spPr>
          <a:xfrm>
            <a:off x="838080" y="21031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5"/>
          <p:cNvSpPr/>
          <p:nvPr/>
        </p:nvSpPr>
        <p:spPr>
          <a:xfrm>
            <a:off x="838080" y="2094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883800" y="33375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Institutional Cash-Risk Control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929520" y="406908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6f76"/>
                </a:solidFill>
                <a:latin typeface="Calibri"/>
                <a:ea typeface="Calibri"/>
              </a:rPr>
              <a:t>A digital escrow wallet blocks new collections automatically once the guarantee ceiling is reached.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4404240" y="1920240"/>
            <a:ext cx="3382920" cy="3565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25" name="Image 1" descr="/home/claude/microfi/icons/pillar_bank.png"/>
          <p:cNvPicPr/>
          <p:nvPr/>
        </p:nvPicPr>
        <p:blipFill>
          <a:blip r:embed="rId2"/>
          <a:stretch/>
        </p:blipFill>
        <p:spPr>
          <a:xfrm>
            <a:off x="5638680" y="22402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226" name="Shape 9"/>
          <p:cNvSpPr/>
          <p:nvPr/>
        </p:nvSpPr>
        <p:spPr>
          <a:xfrm>
            <a:off x="4587120" y="21031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0"/>
          <p:cNvSpPr/>
          <p:nvPr/>
        </p:nvSpPr>
        <p:spPr>
          <a:xfrm>
            <a:off x="4587120" y="2094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8" name="Text 11"/>
          <p:cNvSpPr/>
          <p:nvPr/>
        </p:nvSpPr>
        <p:spPr>
          <a:xfrm>
            <a:off x="4632840" y="33375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Total Agnosticism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4678560" y="406908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6f76"/>
                </a:solidFill>
                <a:latin typeface="Calibri"/>
                <a:ea typeface="Calibri"/>
              </a:rPr>
              <a:t>Multi-tenant, multi-bank architecture — sellable to any MFI, with full data sovereignty.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0" name="Shape 13"/>
          <p:cNvSpPr/>
          <p:nvPr/>
        </p:nvSpPr>
        <p:spPr>
          <a:xfrm>
            <a:off x="8153280" y="1920240"/>
            <a:ext cx="3382920" cy="3565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31" name="Image 2" descr="/home/claude/microfi/icons/pillar_control.png"/>
          <p:cNvPicPr/>
          <p:nvPr/>
        </p:nvPicPr>
        <p:blipFill>
          <a:blip r:embed="rId3"/>
          <a:stretch/>
        </p:blipFill>
        <p:spPr>
          <a:xfrm>
            <a:off x="9387720" y="224028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232" name="Shape 14"/>
          <p:cNvSpPr/>
          <p:nvPr/>
        </p:nvSpPr>
        <p:spPr>
          <a:xfrm>
            <a:off x="8336160" y="21031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5"/>
          <p:cNvSpPr/>
          <p:nvPr/>
        </p:nvSpPr>
        <p:spPr>
          <a:xfrm>
            <a:off x="8336160" y="2094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8381880" y="333756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mbria"/>
                <a:ea typeface="Cambria"/>
              </a:rPr>
              <a:t>Absolute Operational Control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35" name="Text 17"/>
          <p:cNvSpPr/>
          <p:nvPr/>
        </p:nvSpPr>
        <p:spPr>
          <a:xfrm>
            <a:off x="8427600" y="406908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6f76"/>
                </a:solidFill>
                <a:latin typeface="Calibri"/>
                <a:ea typeface="Calibri"/>
              </a:rPr>
              <a:t>Continuous GPS tracking and mandatory denomination breakdown, never achieved by competitors.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37" name="Text 19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03 · TARGET VISION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One Digitized Collection Day — From Login to Reconciliation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40" name="Shape 2"/>
          <p:cNvSpPr/>
          <p:nvPr/>
        </p:nvSpPr>
        <p:spPr>
          <a:xfrm>
            <a:off x="2323800" y="1874520"/>
            <a:ext cx="1874160" cy="3428640"/>
          </a:xfrm>
          <a:prstGeom prst="roundRect">
            <a:avLst>
              <a:gd name="adj" fmla="val 10732"/>
            </a:avLst>
          </a:prstGeom>
          <a:solidFill>
            <a:srgbClr val="22252b"/>
          </a:solidFill>
          <a:ln w="3816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3"/>
          <p:cNvSpPr/>
          <p:nvPr/>
        </p:nvSpPr>
        <p:spPr>
          <a:xfrm>
            <a:off x="2406240" y="2130480"/>
            <a:ext cx="1709640" cy="2916720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4"/>
          <p:cNvSpPr/>
          <p:nvPr/>
        </p:nvSpPr>
        <p:spPr>
          <a:xfrm>
            <a:off x="3005280" y="1947600"/>
            <a:ext cx="511560" cy="91080"/>
          </a:xfrm>
          <a:prstGeom prst="roundRect">
            <a:avLst>
              <a:gd name="adj" fmla="val 50000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3" name="Image 0" descr="/home/claude/microfi/icons/step_morning.png"/>
          <p:cNvPicPr/>
          <p:nvPr/>
        </p:nvPicPr>
        <p:blipFill>
          <a:blip r:embed="rId1"/>
          <a:stretch/>
        </p:blipFill>
        <p:spPr>
          <a:xfrm>
            <a:off x="2849760" y="29034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44" name="Shape 5"/>
          <p:cNvSpPr/>
          <p:nvPr/>
        </p:nvSpPr>
        <p:spPr>
          <a:xfrm>
            <a:off x="4271400" y="3588840"/>
            <a:ext cx="53964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6"/>
          <p:cNvSpPr/>
          <p:nvPr/>
        </p:nvSpPr>
        <p:spPr>
          <a:xfrm>
            <a:off x="306936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7"/>
          <p:cNvSpPr/>
          <p:nvPr/>
        </p:nvSpPr>
        <p:spPr>
          <a:xfrm>
            <a:off x="306936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2003760" y="54133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Morning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1820880" y="57607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Biometric / PIN login. Escrow checked automatically before the route starts.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5158440" y="1874520"/>
            <a:ext cx="1874160" cy="3428640"/>
          </a:xfrm>
          <a:prstGeom prst="roundRect">
            <a:avLst>
              <a:gd name="adj" fmla="val 10732"/>
            </a:avLst>
          </a:prstGeom>
          <a:solidFill>
            <a:srgbClr val="22252b"/>
          </a:solidFill>
          <a:ln w="3816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11"/>
          <p:cNvSpPr/>
          <p:nvPr/>
        </p:nvSpPr>
        <p:spPr>
          <a:xfrm>
            <a:off x="5240880" y="2130480"/>
            <a:ext cx="1709640" cy="2916720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12"/>
          <p:cNvSpPr/>
          <p:nvPr/>
        </p:nvSpPr>
        <p:spPr>
          <a:xfrm>
            <a:off x="5839920" y="1947600"/>
            <a:ext cx="511560" cy="91080"/>
          </a:xfrm>
          <a:prstGeom prst="roundRect">
            <a:avLst>
              <a:gd name="adj" fmla="val 50000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2" name="Image 1" descr="/home/claude/microfi/icons/step_field.png"/>
          <p:cNvPicPr/>
          <p:nvPr/>
        </p:nvPicPr>
        <p:blipFill>
          <a:blip r:embed="rId2"/>
          <a:stretch/>
        </p:blipFill>
        <p:spPr>
          <a:xfrm>
            <a:off x="5684400" y="29034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53" name="Shape 13"/>
          <p:cNvSpPr/>
          <p:nvPr/>
        </p:nvSpPr>
        <p:spPr>
          <a:xfrm>
            <a:off x="7106040" y="3588840"/>
            <a:ext cx="53964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14"/>
          <p:cNvSpPr/>
          <p:nvPr/>
        </p:nvSpPr>
        <p:spPr>
          <a:xfrm>
            <a:off x="590400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15"/>
          <p:cNvSpPr/>
          <p:nvPr/>
        </p:nvSpPr>
        <p:spPr>
          <a:xfrm>
            <a:off x="590400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4838400" y="54133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Field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4655520" y="57607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QR client lookup, denomination entry, mandatory GPS, instant Bluetooth receipt.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58" name="Shape 18"/>
          <p:cNvSpPr/>
          <p:nvPr/>
        </p:nvSpPr>
        <p:spPr>
          <a:xfrm>
            <a:off x="7993080" y="1874520"/>
            <a:ext cx="1874160" cy="3428640"/>
          </a:xfrm>
          <a:prstGeom prst="roundRect">
            <a:avLst>
              <a:gd name="adj" fmla="val 10732"/>
            </a:avLst>
          </a:prstGeom>
          <a:solidFill>
            <a:srgbClr val="22252b"/>
          </a:solidFill>
          <a:ln w="3816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19"/>
          <p:cNvSpPr/>
          <p:nvPr/>
        </p:nvSpPr>
        <p:spPr>
          <a:xfrm>
            <a:off x="8075520" y="2130480"/>
            <a:ext cx="1709640" cy="2916720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20"/>
          <p:cNvSpPr/>
          <p:nvPr/>
        </p:nvSpPr>
        <p:spPr>
          <a:xfrm>
            <a:off x="8674560" y="1947600"/>
            <a:ext cx="511560" cy="91080"/>
          </a:xfrm>
          <a:prstGeom prst="roundRect">
            <a:avLst>
              <a:gd name="adj" fmla="val 50000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1" name="Image 2" descr="/home/claude/microfi/icons/step_evening.png"/>
          <p:cNvPicPr/>
          <p:nvPr/>
        </p:nvPicPr>
        <p:blipFill>
          <a:blip r:embed="rId3"/>
          <a:stretch/>
        </p:blipFill>
        <p:spPr>
          <a:xfrm>
            <a:off x="8519040" y="290340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262" name="Shape 21"/>
          <p:cNvSpPr/>
          <p:nvPr/>
        </p:nvSpPr>
        <p:spPr>
          <a:xfrm>
            <a:off x="8738640" y="134424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2"/>
          <p:cNvSpPr/>
          <p:nvPr/>
        </p:nvSpPr>
        <p:spPr>
          <a:xfrm>
            <a:off x="8738640" y="1334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4" name="Text 23"/>
          <p:cNvSpPr/>
          <p:nvPr/>
        </p:nvSpPr>
        <p:spPr>
          <a:xfrm>
            <a:off x="7673040" y="54133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2252b"/>
                </a:solidFill>
                <a:latin typeface="Cambria"/>
                <a:ea typeface="Cambria"/>
              </a:rPr>
              <a:t>Evening — OFJ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65" name="Text 24"/>
          <p:cNvSpPr/>
          <p:nvPr/>
        </p:nvSpPr>
        <p:spPr>
          <a:xfrm>
            <a:off x="7490160" y="5760720"/>
            <a:ext cx="2880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Physical count vs. digital total. One click closes the day and posts to the CBS.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66" name="Text 25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7" name="Text 26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04 · REQUIREMENTS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Functional Requirements — 22 FRs Across 6 Modules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270" name="Table 0"/>
          <p:cNvGraphicFramePr/>
          <p:nvPr/>
        </p:nvGraphicFramePr>
        <p:xfrm>
          <a:off x="502920" y="1417320"/>
          <a:ext cx="11246760" cy="4800240"/>
        </p:xfrm>
        <a:graphic>
          <a:graphicData uri="http://schemas.openxmlformats.org/drawingml/2006/table">
            <a:tbl>
              <a:tblPr/>
              <a:tblGrid>
                <a:gridCol w="4480560"/>
                <a:gridCol w="1554480"/>
                <a:gridCol w="5212080"/>
              </a:tblGrid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Module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FR Range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Key Capability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1 · Profile Management &amp; Access Security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FR-01 – FR-02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IMEI-bound SSO, agent lifecycle management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2 · Escrow &amp; Financial Lock Management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FR-03 – FR-05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Multi-bank top-up, dynamic lockout, ceiling override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3 · Collection Operations &amp; Proof of Deposit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FR-06 – FR-09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Client ID, offline mode, denomination, notification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4 · Field Tracking &amp; Security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FR-10 – FR-14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GPS trail, route mapping, geofencing, SOS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5 · End-of-Day Closing (OFJ) &amp; Reporting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FR-15 – FR-18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Reconciliation, variance debt, Core Banking export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6 · Client Digital Booklet &amp; Self-Service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FR-19 – FR-22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Tokenized activation, profile, balance, history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271" name="Text 2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05 · MVP SELECTION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Selecting the MVP — An Objective Scoring Model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5" name="Text 2"/>
          <p:cNvSpPr/>
          <p:nvPr/>
        </p:nvSpPr>
        <p:spPr>
          <a:xfrm>
            <a:off x="502920" y="118872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6f76"/>
                </a:solidFill>
                <a:latin typeface="Calibri"/>
                <a:ea typeface="Calibri"/>
              </a:rPr>
              <a:t>Weighted Score = 0.35×Criticality + 0.15×Compliance + 0.30×Dev Speed + 0.20×Cost Efficiency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6" name="Text 3"/>
          <p:cNvSpPr/>
          <p:nvPr/>
        </p:nvSpPr>
        <p:spPr>
          <a:xfrm>
            <a:off x="502920" y="190188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Criticality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7" name="Shape 4"/>
          <p:cNvSpPr/>
          <p:nvPr/>
        </p:nvSpPr>
        <p:spPr>
          <a:xfrm>
            <a:off x="2606040" y="2011680"/>
            <a:ext cx="3657240" cy="255600"/>
          </a:xfrm>
          <a:prstGeom prst="roundRect">
            <a:avLst>
              <a:gd name="adj" fmla="val 14286"/>
            </a:avLst>
          </a:prstGeom>
          <a:solidFill>
            <a:srgbClr val="e6e3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5"/>
          <p:cNvSpPr/>
          <p:nvPr/>
        </p:nvSpPr>
        <p:spPr>
          <a:xfrm>
            <a:off x="2606040" y="2011680"/>
            <a:ext cx="3657240" cy="255600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6"/>
          <p:cNvSpPr/>
          <p:nvPr/>
        </p:nvSpPr>
        <p:spPr>
          <a:xfrm>
            <a:off x="6309360" y="190188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35%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0" name="Text 7"/>
          <p:cNvSpPr/>
          <p:nvPr/>
        </p:nvSpPr>
        <p:spPr>
          <a:xfrm>
            <a:off x="502920" y="260604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Development Speed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1" name="Shape 8"/>
          <p:cNvSpPr/>
          <p:nvPr/>
        </p:nvSpPr>
        <p:spPr>
          <a:xfrm>
            <a:off x="2606040" y="2715840"/>
            <a:ext cx="3657240" cy="255600"/>
          </a:xfrm>
          <a:prstGeom prst="roundRect">
            <a:avLst>
              <a:gd name="adj" fmla="val 14286"/>
            </a:avLst>
          </a:prstGeom>
          <a:solidFill>
            <a:srgbClr val="e6e3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9"/>
          <p:cNvSpPr/>
          <p:nvPr/>
        </p:nvSpPr>
        <p:spPr>
          <a:xfrm>
            <a:off x="2606040" y="2715840"/>
            <a:ext cx="3134880" cy="255600"/>
          </a:xfrm>
          <a:prstGeom prst="roundRect">
            <a:avLst>
              <a:gd name="adj" fmla="val 142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10"/>
          <p:cNvSpPr/>
          <p:nvPr/>
        </p:nvSpPr>
        <p:spPr>
          <a:xfrm>
            <a:off x="6309360" y="260604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30%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502920" y="331020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Cost Efficiency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5" name="Shape 12"/>
          <p:cNvSpPr/>
          <p:nvPr/>
        </p:nvSpPr>
        <p:spPr>
          <a:xfrm>
            <a:off x="2606040" y="3420000"/>
            <a:ext cx="3657240" cy="255600"/>
          </a:xfrm>
          <a:prstGeom prst="roundRect">
            <a:avLst>
              <a:gd name="adj" fmla="val 14286"/>
            </a:avLst>
          </a:prstGeom>
          <a:solidFill>
            <a:srgbClr val="e6e3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Shape 13"/>
          <p:cNvSpPr/>
          <p:nvPr/>
        </p:nvSpPr>
        <p:spPr>
          <a:xfrm>
            <a:off x="2606040" y="3420000"/>
            <a:ext cx="2089800" cy="255600"/>
          </a:xfrm>
          <a:prstGeom prst="roundRect">
            <a:avLst>
              <a:gd name="adj" fmla="val 14286"/>
            </a:avLst>
          </a:prstGeom>
          <a:solidFill>
            <a:srgbClr val="6b6f7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14"/>
          <p:cNvSpPr/>
          <p:nvPr/>
        </p:nvSpPr>
        <p:spPr>
          <a:xfrm>
            <a:off x="6309360" y="331020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20%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8" name="Text 15"/>
          <p:cNvSpPr/>
          <p:nvPr/>
        </p:nvSpPr>
        <p:spPr>
          <a:xfrm>
            <a:off x="502920" y="401436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Regulatory Urgency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9" name="Shape 16"/>
          <p:cNvSpPr/>
          <p:nvPr/>
        </p:nvSpPr>
        <p:spPr>
          <a:xfrm>
            <a:off x="2606040" y="4123800"/>
            <a:ext cx="3657240" cy="255600"/>
          </a:xfrm>
          <a:prstGeom prst="roundRect">
            <a:avLst>
              <a:gd name="adj" fmla="val 14286"/>
            </a:avLst>
          </a:prstGeom>
          <a:solidFill>
            <a:srgbClr val="e6e3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Shape 17"/>
          <p:cNvSpPr/>
          <p:nvPr/>
        </p:nvSpPr>
        <p:spPr>
          <a:xfrm>
            <a:off x="2606040" y="4123800"/>
            <a:ext cx="1567080" cy="255600"/>
          </a:xfrm>
          <a:prstGeom prst="roundRect">
            <a:avLst>
              <a:gd name="adj" fmla="val 14286"/>
            </a:avLst>
          </a:prstGeom>
          <a:solidFill>
            <a:srgbClr val="c982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8"/>
          <p:cNvSpPr/>
          <p:nvPr/>
        </p:nvSpPr>
        <p:spPr>
          <a:xfrm>
            <a:off x="6309360" y="401436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22252b"/>
                </a:solidFill>
                <a:latin typeface="Calibri"/>
                <a:ea typeface="Calibri"/>
              </a:rPr>
              <a:t>15%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2" name="Shape 19"/>
          <p:cNvSpPr/>
          <p:nvPr/>
        </p:nvSpPr>
        <p:spPr>
          <a:xfrm>
            <a:off x="7315200" y="1874520"/>
            <a:ext cx="4373280" cy="2880000"/>
          </a:xfrm>
          <a:prstGeom prst="roundRect">
            <a:avLst>
              <a:gd name="adj" fmla="val 2540"/>
            </a:avLst>
          </a:prstGeom>
          <a:solidFill>
            <a:srgbClr val="2225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20"/>
          <p:cNvSpPr/>
          <p:nvPr/>
        </p:nvSpPr>
        <p:spPr>
          <a:xfrm>
            <a:off x="7589520" y="2057400"/>
            <a:ext cx="3824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9a227"/>
                </a:solidFill>
                <a:latin typeface="Cambria"/>
                <a:ea typeface="Cambria"/>
              </a:rPr>
              <a:t>Decision Thresholds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94" name="Shape 21"/>
          <p:cNvSpPr/>
          <p:nvPr/>
        </p:nvSpPr>
        <p:spPr>
          <a:xfrm>
            <a:off x="7607880" y="2615040"/>
            <a:ext cx="219240" cy="219240"/>
          </a:xfrm>
          <a:prstGeom prst="ellipse">
            <a:avLst/>
          </a:prstGeom>
          <a:solidFill>
            <a:srgbClr val="2e7d32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22"/>
          <p:cNvSpPr/>
          <p:nvPr/>
        </p:nvSpPr>
        <p:spPr>
          <a:xfrm>
            <a:off x="7955280" y="2505600"/>
            <a:ext cx="3458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Score ≥ 3.90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6" name="Text 23"/>
          <p:cNvSpPr/>
          <p:nvPr/>
        </p:nvSpPr>
        <p:spPr>
          <a:xfrm>
            <a:off x="7955280" y="2797920"/>
            <a:ext cx="345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ca0a6"/>
                </a:solidFill>
                <a:latin typeface="Calibri"/>
                <a:ea typeface="Calibri"/>
              </a:rPr>
              <a:t>MVP — built in the 6-week window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297" name="Shape 24"/>
          <p:cNvSpPr/>
          <p:nvPr/>
        </p:nvSpPr>
        <p:spPr>
          <a:xfrm>
            <a:off x="7607880" y="3328560"/>
            <a:ext cx="219240" cy="219240"/>
          </a:xfrm>
          <a:prstGeom prst="ellipse">
            <a:avLst/>
          </a:prstGeom>
          <a:solidFill>
            <a:srgbClr val="c9822a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25"/>
          <p:cNvSpPr/>
          <p:nvPr/>
        </p:nvSpPr>
        <p:spPr>
          <a:xfrm>
            <a:off x="7955280" y="3218760"/>
            <a:ext cx="3458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Score 3.00 – 3.89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9" name="Text 26"/>
          <p:cNvSpPr/>
          <p:nvPr/>
        </p:nvSpPr>
        <p:spPr>
          <a:xfrm>
            <a:off x="7955280" y="3511440"/>
            <a:ext cx="345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ca0a6"/>
                </a:solidFill>
                <a:latin typeface="Calibri"/>
                <a:ea typeface="Calibri"/>
              </a:rPr>
              <a:t>Fast-Follow — immediately after launch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00" name="Shape 27"/>
          <p:cNvSpPr/>
          <p:nvPr/>
        </p:nvSpPr>
        <p:spPr>
          <a:xfrm>
            <a:off x="7607880" y="4041720"/>
            <a:ext cx="219240" cy="219240"/>
          </a:xfrm>
          <a:prstGeom prst="ellipse">
            <a:avLst/>
          </a:prstGeom>
          <a:solidFill>
            <a:srgbClr val="c62828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28"/>
          <p:cNvSpPr/>
          <p:nvPr/>
        </p:nvSpPr>
        <p:spPr>
          <a:xfrm>
            <a:off x="7955280" y="3931920"/>
            <a:ext cx="3458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Score &lt; 3.00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2" name="Text 29"/>
          <p:cNvSpPr/>
          <p:nvPr/>
        </p:nvSpPr>
        <p:spPr>
          <a:xfrm>
            <a:off x="7955280" y="4224600"/>
            <a:ext cx="345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ca0a6"/>
                </a:solidFill>
                <a:latin typeface="Calibri"/>
                <a:ea typeface="Calibri"/>
              </a:rPr>
              <a:t>Backlog — revisited in a later release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03" name="Text 30"/>
          <p:cNvSpPr/>
          <p:nvPr/>
        </p:nvSpPr>
        <p:spPr>
          <a:xfrm>
            <a:off x="502920" y="5257800"/>
            <a:ext cx="1118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Note: FR-07 (Offline Mode) is force-included in MVP by architecture-dependency override — the entire platform depends on it, regardless of its raw score.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04" name="Text 31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05" name="Text 32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05 · MVP SELECTION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MVP — Five Flagship Capabilities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518040" y="1874520"/>
            <a:ext cx="2084400" cy="3382920"/>
          </a:xfrm>
          <a:prstGeom prst="roundRect">
            <a:avLst>
              <a:gd name="adj" fmla="val 43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3"/>
          <p:cNvSpPr/>
          <p:nvPr/>
        </p:nvSpPr>
        <p:spPr>
          <a:xfrm>
            <a:off x="1368360" y="210312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4"/>
          <p:cNvSpPr/>
          <p:nvPr/>
        </p:nvSpPr>
        <p:spPr>
          <a:xfrm>
            <a:off x="1368360" y="2094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311" name="Image 0" descr="/home/claude/microfi/icons/mvp_offline.png"/>
          <p:cNvPicPr/>
          <p:nvPr/>
        </p:nvPicPr>
        <p:blipFill>
          <a:blip r:embed="rId1"/>
          <a:stretch/>
        </p:blipFill>
        <p:spPr>
          <a:xfrm>
            <a:off x="1176480" y="274320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12" name="Text 5"/>
          <p:cNvSpPr/>
          <p:nvPr/>
        </p:nvSpPr>
        <p:spPr>
          <a:xfrm>
            <a:off x="664200" y="370332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9a227"/>
                </a:solidFill>
                <a:latin typeface="Cambria"/>
                <a:ea typeface="Cambria"/>
              </a:rPr>
              <a:t>Offline-First Collection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3" name="Text 6"/>
          <p:cNvSpPr/>
          <p:nvPr/>
        </p:nvSpPr>
        <p:spPr>
          <a:xfrm>
            <a:off x="664200" y="4297680"/>
            <a:ext cx="1791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9cbcf"/>
                </a:solidFill>
                <a:latin typeface="Calibri"/>
                <a:ea typeface="Calibri"/>
              </a:rPr>
              <a:t>Works when the network is dead on the market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2785680" y="1874520"/>
            <a:ext cx="2084400" cy="3382920"/>
          </a:xfrm>
          <a:prstGeom prst="roundRect">
            <a:avLst>
              <a:gd name="adj" fmla="val 43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Shape 8"/>
          <p:cNvSpPr/>
          <p:nvPr/>
        </p:nvSpPr>
        <p:spPr>
          <a:xfrm>
            <a:off x="3636000" y="210312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9"/>
          <p:cNvSpPr/>
          <p:nvPr/>
        </p:nvSpPr>
        <p:spPr>
          <a:xfrm>
            <a:off x="3636000" y="2094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317" name="Image 1" descr="/home/claude/microfi/icons/mvp_gps.png"/>
          <p:cNvPicPr/>
          <p:nvPr/>
        </p:nvPicPr>
        <p:blipFill>
          <a:blip r:embed="rId2"/>
          <a:stretch/>
        </p:blipFill>
        <p:spPr>
          <a:xfrm>
            <a:off x="3444120" y="274320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18" name="Text 10"/>
          <p:cNvSpPr/>
          <p:nvPr/>
        </p:nvSpPr>
        <p:spPr>
          <a:xfrm>
            <a:off x="2932200" y="370332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9a227"/>
                </a:solidFill>
                <a:latin typeface="Cambria"/>
                <a:ea typeface="Cambria"/>
              </a:rPr>
              <a:t>Mandatory GPS Gate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2932200" y="4297680"/>
            <a:ext cx="1791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9cbcf"/>
                </a:solidFill>
                <a:latin typeface="Calibri"/>
                <a:ea typeface="Calibri"/>
              </a:rPr>
              <a:t>No collection without a verified location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5053320" y="1874520"/>
            <a:ext cx="2084400" cy="3382920"/>
          </a:xfrm>
          <a:prstGeom prst="roundRect">
            <a:avLst>
              <a:gd name="adj" fmla="val 43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Shape 13"/>
          <p:cNvSpPr/>
          <p:nvPr/>
        </p:nvSpPr>
        <p:spPr>
          <a:xfrm>
            <a:off x="5904000" y="210312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4"/>
          <p:cNvSpPr/>
          <p:nvPr/>
        </p:nvSpPr>
        <p:spPr>
          <a:xfrm>
            <a:off x="5904000" y="2094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323" name="Image 2" descr="/home/claude/microfi/icons/mvp_escrow.png"/>
          <p:cNvPicPr/>
          <p:nvPr/>
        </p:nvPicPr>
        <p:blipFill>
          <a:blip r:embed="rId3"/>
          <a:stretch/>
        </p:blipFill>
        <p:spPr>
          <a:xfrm>
            <a:off x="5711760" y="274320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24" name="Text 15"/>
          <p:cNvSpPr/>
          <p:nvPr/>
        </p:nvSpPr>
        <p:spPr>
          <a:xfrm>
            <a:off x="5199840" y="370332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9a227"/>
                </a:solidFill>
                <a:latin typeface="Cambria"/>
                <a:ea typeface="Cambria"/>
              </a:rPr>
              <a:t>Digital Escrow Lockout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5199840" y="4297680"/>
            <a:ext cx="1791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9cbcf"/>
                </a:solidFill>
                <a:latin typeface="Calibri"/>
                <a:ea typeface="Calibri"/>
              </a:rPr>
              <a:t>Guarantee ceiling enforced automatically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6" name="Shape 17"/>
          <p:cNvSpPr/>
          <p:nvPr/>
        </p:nvSpPr>
        <p:spPr>
          <a:xfrm>
            <a:off x="7321320" y="1874520"/>
            <a:ext cx="2084400" cy="3382920"/>
          </a:xfrm>
          <a:prstGeom prst="roundRect">
            <a:avLst>
              <a:gd name="adj" fmla="val 43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Shape 18"/>
          <p:cNvSpPr/>
          <p:nvPr/>
        </p:nvSpPr>
        <p:spPr>
          <a:xfrm>
            <a:off x="8171640" y="210312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19"/>
          <p:cNvSpPr/>
          <p:nvPr/>
        </p:nvSpPr>
        <p:spPr>
          <a:xfrm>
            <a:off x="8171640" y="2094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329" name="Image 3" descr="/home/claude/microfi/icons/mvp_ofj.png"/>
          <p:cNvPicPr/>
          <p:nvPr/>
        </p:nvPicPr>
        <p:blipFill>
          <a:blip r:embed="rId4"/>
          <a:stretch/>
        </p:blipFill>
        <p:spPr>
          <a:xfrm>
            <a:off x="7979400" y="274320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30" name="Text 20"/>
          <p:cNvSpPr/>
          <p:nvPr/>
        </p:nvSpPr>
        <p:spPr>
          <a:xfrm>
            <a:off x="7467480" y="370332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9a227"/>
                </a:solidFill>
                <a:latin typeface="Cambria"/>
                <a:ea typeface="Cambria"/>
              </a:rPr>
              <a:t>End-of-Day Reconciliation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7467480" y="4297680"/>
            <a:ext cx="1791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9cbcf"/>
                </a:solidFill>
                <a:latin typeface="Calibri"/>
                <a:ea typeface="Calibri"/>
              </a:rPr>
              <a:t>Digital Cash Desk closes in minutes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2" name="Shape 22"/>
          <p:cNvSpPr/>
          <p:nvPr/>
        </p:nvSpPr>
        <p:spPr>
          <a:xfrm>
            <a:off x="9588960" y="1874520"/>
            <a:ext cx="2084400" cy="3382920"/>
          </a:xfrm>
          <a:prstGeom prst="roundRect">
            <a:avLst>
              <a:gd name="adj" fmla="val 4386"/>
            </a:avLst>
          </a:prstGeom>
          <a:solidFill>
            <a:srgbClr val="2e3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23"/>
          <p:cNvSpPr/>
          <p:nvPr/>
        </p:nvSpPr>
        <p:spPr>
          <a:xfrm>
            <a:off x="10439280" y="2103120"/>
            <a:ext cx="383760" cy="38376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4"/>
          <p:cNvSpPr/>
          <p:nvPr/>
        </p:nvSpPr>
        <p:spPr>
          <a:xfrm>
            <a:off x="10439280" y="2094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335" name="Image 4" descr="/home/claude/microfi/icons/mvp_cbs.png"/>
          <p:cNvPicPr/>
          <p:nvPr/>
        </p:nvPicPr>
        <p:blipFill>
          <a:blip r:embed="rId5"/>
          <a:stretch/>
        </p:blipFill>
        <p:spPr>
          <a:xfrm>
            <a:off x="10247400" y="274320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36" name="Text 25"/>
          <p:cNvSpPr/>
          <p:nvPr/>
        </p:nvSpPr>
        <p:spPr>
          <a:xfrm>
            <a:off x="9735120" y="3703320"/>
            <a:ext cx="1791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9a227"/>
                </a:solidFill>
                <a:latin typeface="Cambria"/>
                <a:ea typeface="Cambria"/>
              </a:rPr>
              <a:t>Core Banking Connection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337" name="Text 26"/>
          <p:cNvSpPr/>
          <p:nvPr/>
        </p:nvSpPr>
        <p:spPr>
          <a:xfrm>
            <a:off x="9735120" y="4297680"/>
            <a:ext cx="1791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9cbcf"/>
                </a:solidFill>
                <a:latin typeface="Calibri"/>
                <a:ea typeface="Calibri"/>
              </a:rPr>
              <a:t>Every collection reaches the CBS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8" name="Text 27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39" name="Text 28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11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06 · ARCHITECTURE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System Architecture — Modular Monolith + Event-Driven Hybrid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42" name="Shape 2"/>
          <p:cNvSpPr/>
          <p:nvPr/>
        </p:nvSpPr>
        <p:spPr>
          <a:xfrm>
            <a:off x="700920" y="2788920"/>
            <a:ext cx="15541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80">
            <a:solidFill>
              <a:srgbClr val="e3e1db"/>
            </a:solidFill>
            <a:round/>
          </a:ln>
          <a:effectLst>
            <a:outerShdw dist="25560" dir="54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3" name="Text 3"/>
          <p:cNvSpPr/>
          <p:nvPr/>
        </p:nvSpPr>
        <p:spPr>
          <a:xfrm>
            <a:off x="700920" y="2788920"/>
            <a:ext cx="1554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Mobile App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(Flutter)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2310120" y="3223080"/>
            <a:ext cx="3931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Shape 5"/>
          <p:cNvSpPr/>
          <p:nvPr/>
        </p:nvSpPr>
        <p:spPr>
          <a:xfrm>
            <a:off x="2360520" y="2747880"/>
            <a:ext cx="292320" cy="29232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6"/>
          <p:cNvSpPr/>
          <p:nvPr/>
        </p:nvSpPr>
        <p:spPr>
          <a:xfrm>
            <a:off x="2360520" y="2738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2758320" y="2788920"/>
            <a:ext cx="173700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80">
            <a:solidFill>
              <a:srgbClr val="e3e1db"/>
            </a:solidFill>
            <a:round/>
          </a:ln>
          <a:effectLst>
            <a:outerShdw dist="25560" dir="54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8" name="Text 8"/>
          <p:cNvSpPr/>
          <p:nvPr/>
        </p:nvSpPr>
        <p:spPr>
          <a:xfrm>
            <a:off x="2758320" y="2788920"/>
            <a:ext cx="1737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API Gateway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(NGINX / Kong)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9" name="Shape 9"/>
          <p:cNvSpPr/>
          <p:nvPr/>
        </p:nvSpPr>
        <p:spPr>
          <a:xfrm>
            <a:off x="4550400" y="3223080"/>
            <a:ext cx="3931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10"/>
          <p:cNvSpPr/>
          <p:nvPr/>
        </p:nvSpPr>
        <p:spPr>
          <a:xfrm>
            <a:off x="4600800" y="2747880"/>
            <a:ext cx="292320" cy="29232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11"/>
          <p:cNvSpPr/>
          <p:nvPr/>
        </p:nvSpPr>
        <p:spPr>
          <a:xfrm>
            <a:off x="4600800" y="2738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4998600" y="2788920"/>
            <a:ext cx="1874160" cy="868320"/>
          </a:xfrm>
          <a:prstGeom prst="roundRect">
            <a:avLst>
              <a:gd name="adj" fmla="val 8421"/>
            </a:avLst>
          </a:prstGeom>
          <a:solidFill>
            <a:srgbClr val="22252b"/>
          </a:solidFill>
          <a:ln w="19080">
            <a:solidFill>
              <a:srgbClr val="22252b"/>
            </a:solidFill>
            <a:round/>
          </a:ln>
          <a:effectLst>
            <a:outerShdw dist="25560" dir="54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Text 13"/>
          <p:cNvSpPr/>
          <p:nvPr/>
        </p:nvSpPr>
        <p:spPr>
          <a:xfrm>
            <a:off x="4998600" y="2788920"/>
            <a:ext cx="1874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Core Backend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(Spring Boot 4)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4" name="Shape 14"/>
          <p:cNvSpPr/>
          <p:nvPr/>
        </p:nvSpPr>
        <p:spPr>
          <a:xfrm>
            <a:off x="6927840" y="3223080"/>
            <a:ext cx="3931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15"/>
          <p:cNvSpPr/>
          <p:nvPr/>
        </p:nvSpPr>
        <p:spPr>
          <a:xfrm>
            <a:off x="6978240" y="2747880"/>
            <a:ext cx="292320" cy="29232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6"/>
          <p:cNvSpPr/>
          <p:nvPr/>
        </p:nvSpPr>
        <p:spPr>
          <a:xfrm>
            <a:off x="6978240" y="2738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7376040" y="2788920"/>
            <a:ext cx="1874160" cy="868320"/>
          </a:xfrm>
          <a:prstGeom prst="roundRect">
            <a:avLst>
              <a:gd name="adj" fmla="val 8421"/>
            </a:avLst>
          </a:prstGeom>
          <a:solidFill>
            <a:srgbClr val="22252b"/>
          </a:solidFill>
          <a:ln w="19080">
            <a:solidFill>
              <a:srgbClr val="22252b"/>
            </a:solidFill>
            <a:round/>
          </a:ln>
          <a:effectLst>
            <a:outerShdw dist="25560" dir="54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8" name="Text 18"/>
          <p:cNvSpPr/>
          <p:nvPr/>
        </p:nvSpPr>
        <p:spPr>
          <a:xfrm>
            <a:off x="7376040" y="2788920"/>
            <a:ext cx="18741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CBS Middleware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(Spring Boot 4)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9" name="Shape 19"/>
          <p:cNvSpPr/>
          <p:nvPr/>
        </p:nvSpPr>
        <p:spPr>
          <a:xfrm>
            <a:off x="9305280" y="3223080"/>
            <a:ext cx="393120" cy="360"/>
          </a:xfrm>
          <a:prstGeom prst="line">
            <a:avLst/>
          </a:prstGeom>
          <a:ln w="31680">
            <a:solidFill>
              <a:srgbClr val="c9a22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20"/>
          <p:cNvSpPr/>
          <p:nvPr/>
        </p:nvSpPr>
        <p:spPr>
          <a:xfrm>
            <a:off x="9355680" y="2747880"/>
            <a:ext cx="292320" cy="29232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21"/>
          <p:cNvSpPr/>
          <p:nvPr/>
        </p:nvSpPr>
        <p:spPr>
          <a:xfrm>
            <a:off x="9355680" y="2738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62" name="Shape 22"/>
          <p:cNvSpPr/>
          <p:nvPr/>
        </p:nvSpPr>
        <p:spPr>
          <a:xfrm>
            <a:off x="9753480" y="2788920"/>
            <a:ext cx="173700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80">
            <a:solidFill>
              <a:srgbClr val="e3e1db"/>
            </a:solidFill>
            <a:round/>
          </a:ln>
          <a:effectLst>
            <a:outerShdw dist="25560" dir="5400000" blurRad="633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3" name="Text 23"/>
          <p:cNvSpPr/>
          <p:nvPr/>
        </p:nvSpPr>
        <p:spPr>
          <a:xfrm>
            <a:off x="9753480" y="2788920"/>
            <a:ext cx="1737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Core Banking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2252b"/>
                </a:solidFill>
                <a:latin typeface="Calibri"/>
                <a:ea typeface="Calibri"/>
              </a:rPr>
              <a:t>System (CBS)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4" name="Shape 24"/>
          <p:cNvSpPr/>
          <p:nvPr/>
        </p:nvSpPr>
        <p:spPr>
          <a:xfrm>
            <a:off x="4426920" y="1737360"/>
            <a:ext cx="1462680" cy="594000"/>
          </a:xfrm>
          <a:prstGeom prst="roundRect">
            <a:avLst>
              <a:gd name="adj" fmla="val 9231"/>
            </a:avLst>
          </a:prstGeom>
          <a:solidFill>
            <a:srgbClr val="efede6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25"/>
          <p:cNvSpPr/>
          <p:nvPr/>
        </p:nvSpPr>
        <p:spPr>
          <a:xfrm>
            <a:off x="4426920" y="17373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22252b"/>
                </a:solidFill>
                <a:latin typeface="Calibri"/>
                <a:ea typeface="Calibri"/>
              </a:rPr>
              <a:t>Redis 7 (Cache)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66" name="Shape 26"/>
          <p:cNvSpPr/>
          <p:nvPr/>
        </p:nvSpPr>
        <p:spPr>
          <a:xfrm>
            <a:off x="5158440" y="2331720"/>
            <a:ext cx="360" cy="457200"/>
          </a:xfrm>
          <a:prstGeom prst="line">
            <a:avLst/>
          </a:prstGeom>
          <a:ln w="15840">
            <a:solidFill>
              <a:srgbClr val="9ca0a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27"/>
          <p:cNvSpPr/>
          <p:nvPr/>
        </p:nvSpPr>
        <p:spPr>
          <a:xfrm>
            <a:off x="5981400" y="1737360"/>
            <a:ext cx="1462680" cy="594000"/>
          </a:xfrm>
          <a:prstGeom prst="roundRect">
            <a:avLst>
              <a:gd name="adj" fmla="val 9231"/>
            </a:avLst>
          </a:prstGeom>
          <a:solidFill>
            <a:srgbClr val="efede6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28"/>
          <p:cNvSpPr/>
          <p:nvPr/>
        </p:nvSpPr>
        <p:spPr>
          <a:xfrm>
            <a:off x="5981400" y="173736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22252b"/>
                </a:solidFill>
                <a:latin typeface="Calibri"/>
                <a:ea typeface="Calibri"/>
              </a:rPr>
              <a:t>PostgreSQL 16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69" name="Shape 29"/>
          <p:cNvSpPr/>
          <p:nvPr/>
        </p:nvSpPr>
        <p:spPr>
          <a:xfrm>
            <a:off x="6712920" y="2331720"/>
            <a:ext cx="360" cy="457200"/>
          </a:xfrm>
          <a:prstGeom prst="line">
            <a:avLst/>
          </a:prstGeom>
          <a:ln w="15840">
            <a:solidFill>
              <a:srgbClr val="9ca0a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30"/>
          <p:cNvSpPr/>
          <p:nvPr/>
        </p:nvSpPr>
        <p:spPr>
          <a:xfrm>
            <a:off x="6392880" y="3977640"/>
            <a:ext cx="1462680" cy="548280"/>
          </a:xfrm>
          <a:prstGeom prst="roundRect">
            <a:avLst>
              <a:gd name="adj" fmla="val 10000"/>
            </a:avLst>
          </a:prstGeom>
          <a:solidFill>
            <a:srgbClr val="efede6"/>
          </a:solidFill>
          <a:ln w="12600">
            <a:solidFill>
              <a:srgbClr val="e3e1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31"/>
          <p:cNvSpPr/>
          <p:nvPr/>
        </p:nvSpPr>
        <p:spPr>
          <a:xfrm>
            <a:off x="6392880" y="397764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22252b"/>
                </a:solidFill>
                <a:latin typeface="Calibri"/>
                <a:ea typeface="Calibri"/>
              </a:rPr>
              <a:t>RabbitMQ 3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372" name="Shape 32"/>
          <p:cNvSpPr/>
          <p:nvPr/>
        </p:nvSpPr>
        <p:spPr>
          <a:xfrm>
            <a:off x="7124400" y="3657600"/>
            <a:ext cx="360" cy="320040"/>
          </a:xfrm>
          <a:prstGeom prst="line">
            <a:avLst/>
          </a:prstGeom>
          <a:ln w="15840">
            <a:solidFill>
              <a:srgbClr val="9ca0a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33"/>
          <p:cNvSpPr/>
          <p:nvPr/>
        </p:nvSpPr>
        <p:spPr>
          <a:xfrm>
            <a:off x="731520" y="5212080"/>
            <a:ext cx="1072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6f76"/>
                </a:solidFill>
                <a:latin typeface="Calibri"/>
                <a:ea typeface="Calibri"/>
              </a:rPr>
              <a:t>Design principle: the Core Backend owns business rules, offline sync, escrow and OFJ. The CBS Middleware owns all vendor-specific mapping. RabbitMQ decouples the two so mobile requests are never blocked on the CBS.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4" name="Text 34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5" name="Text 35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12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06 · ARCHITECTURE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Technology Stack — Component by Component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378" name="Table 0"/>
          <p:cNvGraphicFramePr/>
          <p:nvPr/>
        </p:nvGraphicFramePr>
        <p:xfrm>
          <a:off x="502920" y="1417320"/>
          <a:ext cx="11246760" cy="497376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  <a:gridCol w="3566160"/>
              </a:tblGrid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Layer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Responsibility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Technology</a:t>
                      </a:r>
                      <a:endParaRPr b="0" lang="en-US" sz="11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22252b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Client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Agent + client mobile views, Back-Office dashboards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Flutter 3 · Next.js 16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Gateway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TLS, rate-limiting, JWT validation, routing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NGINX / Kong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Core Backend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Business rules, offline sync, escrow, OFJ, tokens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Spring Boot 4 · WebFlux + JPA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CBS Middleware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Vendor-specific mapping, posting, retries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Spring Boot 4 · JPA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Data / Cache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Relational state + session / token cache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PostgreSQL 16 · Redis 7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Async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Decouples Core ↔ Middleware; offline bursts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RabbitMQ 3 (AMQP)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efede6"/>
                    </a:solidFill>
                  </a:tcPr>
                </a:tc>
              </a:tr>
              <a:tr h="622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2252b"/>
                          </a:solidFill>
                          <a:latin typeface="Calibri"/>
                          <a:ea typeface="Calibri"/>
                        </a:rPr>
                        <a:t>Observability</a:t>
                      </a:r>
                      <a:endParaRPr b="0" lang="en-US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b6f76"/>
                          </a:solidFill>
                          <a:latin typeface="Calibri"/>
                          <a:ea typeface="Calibri"/>
                        </a:rPr>
                        <a:t>Metrics, logs, traces in one pane of glass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9a227"/>
                          </a:solidFill>
                          <a:latin typeface="Calibri"/>
                          <a:ea typeface="Calibri"/>
                        </a:rPr>
                        <a:t>Prometheus · Grafana · Loki · Tempo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e3e1db"/>
                      </a:solidFill>
                    </a:lnL>
                    <a:lnR w="9360">
                      <a:solidFill>
                        <a:srgbClr val="e3e1db"/>
                      </a:solidFill>
                    </a:lnR>
                    <a:lnT w="9360">
                      <a:solidFill>
                        <a:srgbClr val="e3e1db"/>
                      </a:solidFill>
                    </a:lnT>
                    <a:lnB w="9360">
                      <a:solidFill>
                        <a:srgbClr val="e3e1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9" name="Text 2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80" name="Text 3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13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/>
          <p:nvPr/>
        </p:nvSpPr>
        <p:spPr>
          <a:xfrm>
            <a:off x="502920" y="292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c9a227"/>
                </a:solidFill>
                <a:latin typeface="Calibri"/>
                <a:ea typeface="Calibri"/>
              </a:rPr>
              <a:t>07 · CONCLUSION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502920" y="5670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2252b"/>
                </a:solidFill>
                <a:latin typeface="Cambria"/>
                <a:ea typeface="Cambria"/>
              </a:rPr>
              <a:t>From Paper-Based Risk to Controlled, Auditable Collection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655200" y="1691640"/>
            <a:ext cx="3382920" cy="30628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84" name="Image 0" descr="/home/claude/microfi/icons/ic_shield.png"/>
          <p:cNvPicPr/>
          <p:nvPr/>
        </p:nvPicPr>
        <p:blipFill>
          <a:blip r:embed="rId1"/>
          <a:stretch/>
        </p:blipFill>
        <p:spPr>
          <a:xfrm>
            <a:off x="1962720" y="19843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85" name="Shape 3"/>
          <p:cNvSpPr/>
          <p:nvPr/>
        </p:nvSpPr>
        <p:spPr>
          <a:xfrm>
            <a:off x="838080" y="18745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Text 4"/>
          <p:cNvSpPr/>
          <p:nvPr/>
        </p:nvSpPr>
        <p:spPr>
          <a:xfrm>
            <a:off x="838080" y="18655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883800" y="292608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22252b"/>
                </a:solidFill>
                <a:latin typeface="Cambria"/>
                <a:ea typeface="Cambria"/>
              </a:rPr>
              <a:t>A Real Problem, Solved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88" name="Text 6"/>
          <p:cNvSpPr/>
          <p:nvPr/>
        </p:nvSpPr>
        <p:spPr>
          <a:xfrm>
            <a:off x="929520" y="3520440"/>
            <a:ext cx="2834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Opacity, slow reconciliation, counterfeit disputes and stale CBS balances give way to a monitored, traceable process.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89" name="Shape 7"/>
          <p:cNvSpPr/>
          <p:nvPr/>
        </p:nvSpPr>
        <p:spPr>
          <a:xfrm>
            <a:off x="4404240" y="1691640"/>
            <a:ext cx="3382920" cy="30628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90" name="Image 1" descr="/home/claude/microfi/icons/ic_map.png"/>
          <p:cNvPicPr/>
          <p:nvPr/>
        </p:nvPicPr>
        <p:blipFill>
          <a:blip r:embed="rId2"/>
          <a:stretch/>
        </p:blipFill>
        <p:spPr>
          <a:xfrm>
            <a:off x="5711760" y="19843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91" name="Shape 8"/>
          <p:cNvSpPr/>
          <p:nvPr/>
        </p:nvSpPr>
        <p:spPr>
          <a:xfrm>
            <a:off x="4587120" y="18745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9"/>
          <p:cNvSpPr/>
          <p:nvPr/>
        </p:nvSpPr>
        <p:spPr>
          <a:xfrm>
            <a:off x="4587120" y="18655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3" name="Text 10"/>
          <p:cNvSpPr/>
          <p:nvPr/>
        </p:nvSpPr>
        <p:spPr>
          <a:xfrm>
            <a:off x="4632840" y="292608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22252b"/>
                </a:solidFill>
                <a:latin typeface="Cambria"/>
                <a:ea typeface="Cambria"/>
              </a:rPr>
              <a:t>Hybrid by Design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394" name="Text 11"/>
          <p:cNvSpPr/>
          <p:nvPr/>
        </p:nvSpPr>
        <p:spPr>
          <a:xfrm>
            <a:off x="4678560" y="3520440"/>
            <a:ext cx="2834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Human trust, on an ordinary phone, with offline-first architecture built for CEMAC's connectivity realities.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395" name="Shape 12"/>
          <p:cNvSpPr/>
          <p:nvPr/>
        </p:nvSpPr>
        <p:spPr>
          <a:xfrm>
            <a:off x="8153280" y="1691640"/>
            <a:ext cx="3382920" cy="30628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600">
            <a:solidFill>
              <a:srgbClr val="e3e1db"/>
            </a:solidFill>
            <a:round/>
          </a:ln>
          <a:effectLst>
            <a:outerShdw dist="25560" dir="5400000" blurRad="1015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96" name="Image 2" descr="/home/claude/microfi/icons/ic_gear.png"/>
          <p:cNvPicPr/>
          <p:nvPr/>
        </p:nvPicPr>
        <p:blipFill>
          <a:blip r:embed="rId3"/>
          <a:stretch/>
        </p:blipFill>
        <p:spPr>
          <a:xfrm>
            <a:off x="9460800" y="1984320"/>
            <a:ext cx="767880" cy="767880"/>
          </a:xfrm>
          <a:prstGeom prst="rect">
            <a:avLst/>
          </a:prstGeom>
          <a:ln w="0">
            <a:noFill/>
          </a:ln>
        </p:spPr>
      </p:pic>
      <p:sp>
        <p:nvSpPr>
          <p:cNvPr id="397" name="Shape 13"/>
          <p:cNvSpPr/>
          <p:nvPr/>
        </p:nvSpPr>
        <p:spPr>
          <a:xfrm>
            <a:off x="8336160" y="1874520"/>
            <a:ext cx="328680" cy="328680"/>
          </a:xfrm>
          <a:prstGeom prst="ellipse">
            <a:avLst/>
          </a:prstGeom>
          <a:solidFill>
            <a:srgbClr val="c9a2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14"/>
          <p:cNvSpPr/>
          <p:nvPr/>
        </p:nvSpPr>
        <p:spPr>
          <a:xfrm>
            <a:off x="8336160" y="18655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2252b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99" name="Text 15"/>
          <p:cNvSpPr/>
          <p:nvPr/>
        </p:nvSpPr>
        <p:spPr>
          <a:xfrm>
            <a:off x="8381880" y="292608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22252b"/>
                </a:solidFill>
                <a:latin typeface="Cambria"/>
                <a:ea typeface="Cambria"/>
              </a:rPr>
              <a:t>An Incremental Path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400" name="Text 16"/>
          <p:cNvSpPr/>
          <p:nvPr/>
        </p:nvSpPr>
        <p:spPr>
          <a:xfrm>
            <a:off x="8427600" y="3520440"/>
            <a:ext cx="2834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6f76"/>
                </a:solidFill>
                <a:latin typeface="Calibri"/>
                <a:ea typeface="Calibri"/>
              </a:rPr>
              <a:t>A rigorously scoped 6-week MVP today, with fraud detection, Mobile Money and predictive analytics on the roadmap.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01" name="Text 17"/>
          <p:cNvSpPr/>
          <p:nvPr/>
        </p:nvSpPr>
        <p:spPr>
          <a:xfrm>
            <a:off x="914400" y="5120640"/>
            <a:ext cx="10362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22252b"/>
                </a:solidFill>
                <a:latin typeface="Calibri"/>
                <a:ea typeface="Calibri"/>
              </a:rPr>
              <a:t>MICROFI is not “another app” — it is an operational transformation platform for microfinance institutions across the CEMAC zone.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02" name="Text 18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MICROFI COLLECT  ·  CEMAC Zone — Cameroon · Chad · CAR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03" name="Text 19"/>
          <p:cNvSpPr/>
          <p:nvPr/>
        </p:nvSpPr>
        <p:spPr>
          <a:xfrm>
            <a:off x="1123164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0a6"/>
                </a:solidFill>
                <a:latin typeface="Calibri"/>
                <a:ea typeface="Calibri"/>
              </a:rPr>
              <a:t>14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-1280160" y="4206240"/>
            <a:ext cx="4205880" cy="4205880"/>
          </a:xfrm>
          <a:prstGeom prst="ellipse">
            <a:avLst/>
          </a:prstGeom>
          <a:noFill/>
          <a:ln w="2556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1"/>
          <p:cNvSpPr/>
          <p:nvPr/>
        </p:nvSpPr>
        <p:spPr>
          <a:xfrm>
            <a:off x="-640080" y="4846320"/>
            <a:ext cx="2925720" cy="2925720"/>
          </a:xfrm>
          <a:prstGeom prst="ellipse">
            <a:avLst/>
          </a:prstGeom>
          <a:noFill/>
          <a:ln w="19080">
            <a:solidFill>
              <a:srgbClr val="2e32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2"/>
          <p:cNvSpPr/>
          <p:nvPr/>
        </p:nvSpPr>
        <p:spPr>
          <a:xfrm>
            <a:off x="731520" y="2651760"/>
            <a:ext cx="10728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c9a227"/>
                </a:solidFill>
                <a:latin typeface="Cambria"/>
                <a:ea typeface="Cambria"/>
              </a:rPr>
              <a:t>Thanks for Your Attention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407" name="Text 3"/>
          <p:cNvSpPr/>
          <p:nvPr/>
        </p:nvSpPr>
        <p:spPr>
          <a:xfrm>
            <a:off x="1188720" y="3611880"/>
            <a:ext cx="981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MICROFI COLLECT  —  Questions &amp; Discussion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08" name="Text 4"/>
          <p:cNvSpPr/>
          <p:nvPr/>
        </p:nvSpPr>
        <p:spPr>
          <a:xfrm>
            <a:off x="1188720" y="6080760"/>
            <a:ext cx="9813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97" strike="noStrike">
                <a:solidFill>
                  <a:srgbClr val="9ca0a6"/>
                </a:solidFill>
                <a:latin typeface="Calibri"/>
                <a:ea typeface="Calibri"/>
              </a:rPr>
              <a:t>PK Fokam Research Center  ·  ENSPY 4GI  ·  CEMAC Zone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  <Company>MICROFI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2026-07-31T11:09:36Z</dcterms:created>
  <dc:creator>PK Fokam Research Center</dc:creator>
  <dc:description/>
  <dc:language>en-US</dc:language>
  <cp:lastModifiedBy/>
  <dcterms:modified xsi:type="dcterms:W3CDTF">2026-08-03T07:32:20Z</dcterms:modified>
  <cp:revision>4</cp:revision>
  <dc:subject>MICROFI COLLECT</dc:subject>
  <dc:title>MICROFI COLLECT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